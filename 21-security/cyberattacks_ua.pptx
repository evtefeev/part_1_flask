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EA1CFF1-7679-43DA-B6B7-D99772B4645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5B579D-A020-4DFF-B935-5171657B2D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A9F92-40A8-440E-A199-242F93F17E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5B1BEE-C3DA-4E91-A297-2ABB346BFC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254E9E-4AE0-4063-9C18-B4D19FCB4A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F0C996-B934-4261-83B0-6BBA51A1B0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1AD007-544C-4C28-A477-66F05881A9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201168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301752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402336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0" y="502920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143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286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429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572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5715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58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8001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144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40080" y="1188720"/>
            <a:ext cx="63720" cy="274284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22960" y="118872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599" strike="noStrike">
                <a:solidFill>
                  <a:srgbClr val="ffffff"/>
                </a:solidFill>
                <a:latin typeface="Arial Black"/>
                <a:ea typeface="Arial Black"/>
              </a:rPr>
              <a:t>КІБЕРЗАГРОЗИ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822960" y="224028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cdd5e0"/>
                </a:solidFill>
                <a:latin typeface="Calibri"/>
                <a:ea typeface="Calibri"/>
              </a:rPr>
              <a:t>Основні типи атак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822960" y="3200400"/>
            <a:ext cx="1737000" cy="502560"/>
          </a:xfrm>
          <a:prstGeom prst="roundRect">
            <a:avLst>
              <a:gd name="adj" fmla="val 14545"/>
            </a:avLst>
          </a:prstGeom>
          <a:solidFill>
            <a:srgbClr val="ff4d4d">
              <a:alpha val="80000"/>
            </a:srgbClr>
          </a:solidFill>
          <a:ln w="1905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22960" y="32004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DDoS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2834640" y="3200400"/>
            <a:ext cx="1737000" cy="502560"/>
          </a:xfrm>
          <a:prstGeom prst="roundRect">
            <a:avLst>
              <a:gd name="adj" fmla="val 14545"/>
            </a:avLst>
          </a:prstGeom>
          <a:solidFill>
            <a:srgbClr val="ff9900">
              <a:alpha val="80000"/>
            </a:srgbClr>
          </a:solidFill>
          <a:ln w="1905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2834640" y="32004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XSS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4846320" y="3200400"/>
            <a:ext cx="1737000" cy="502560"/>
          </a:xfrm>
          <a:prstGeom prst="roundRect">
            <a:avLst>
              <a:gd name="adj" fmla="val 14545"/>
            </a:avLst>
          </a:prstGeom>
          <a:solidFill>
            <a:srgbClr val="a855f7">
              <a:alpha val="80000"/>
            </a:srgbClr>
          </a:solidFill>
          <a:ln w="1905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4846320" y="32004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CSRF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6858000" y="3200400"/>
            <a:ext cx="1737000" cy="502560"/>
          </a:xfrm>
          <a:prstGeom prst="roundRect">
            <a:avLst>
              <a:gd name="adj" fmla="val 14545"/>
            </a:avLst>
          </a:prstGeom>
          <a:solidFill>
            <a:srgbClr val="22d3ee">
              <a:alpha val="80000"/>
            </a:srgbClr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858000" y="32004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SQLi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822960" y="411480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892a4"/>
                </a:solidFill>
                <a:latin typeface="Calibri"/>
                <a:ea typeface="Calibri"/>
              </a:rPr>
              <a:t>Як зловмисники атакують вебресурси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0" y="201168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0" y="301752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0" y="402336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0" y="502920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solidFill>
            <a:srgbClr val="ff4d4d">
              <a:alpha val="85000"/>
            </a:srgbClr>
          </a:solidFill>
          <a:ln w="1905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nsolas"/>
                <a:ea typeface="Consolas"/>
              </a:rPr>
              <a:t>DDoS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2331720" y="255960"/>
            <a:ext cx="649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4d4d"/>
                </a:solidFill>
                <a:latin typeface="Calibri"/>
                <a:ea typeface="Calibri"/>
              </a:rPr>
              <a:t>Distributed Denial of Service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2331720" y="5943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2a4"/>
                </a:solidFill>
                <a:latin typeface="Calibri"/>
                <a:ea typeface="Calibri"/>
              </a:rPr>
              <a:t>Розподілена атака відмови в обслуговуванні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365760" y="109728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365760" y="1097280"/>
            <a:ext cx="54360" cy="14626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548640" y="1161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f4d4d"/>
                </a:solidFill>
                <a:latin typeface="Calibri"/>
                <a:ea typeface="Calibri"/>
              </a:rPr>
              <a:t>Опис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548640" y="1435680"/>
            <a:ext cx="3840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Велика кількість пристроїв одночасно надсилає запити до сервера або сайту, перевантажуючи його. У результаті ресурс стає недоступним для звичайних користувачів.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365760" y="274320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365760" y="2743200"/>
            <a:ext cx="54360" cy="14626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548640" y="28072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f4d4d"/>
                </a:solidFill>
                <a:latin typeface="Calibri"/>
                <a:ea typeface="Calibri"/>
              </a:rPr>
              <a:t>Мета атаки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548640" y="310896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Вивести сервіс з ладу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Перевантажити мережу або сервер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Спричинити фінансові або репутаційні збитки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4754880" y="1097280"/>
            <a:ext cx="4023000" cy="31086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0"/>
          <p:cNvSpPr/>
          <p:nvPr/>
        </p:nvSpPr>
        <p:spPr>
          <a:xfrm>
            <a:off x="4754880" y="1097280"/>
            <a:ext cx="4023000" cy="383760"/>
          </a:xfrm>
          <a:prstGeom prst="rect">
            <a:avLst/>
          </a:prstGeom>
          <a:solidFill>
            <a:srgbClr val="0f1726"/>
          </a:solidFill>
          <a:ln w="12700">
            <a:solidFill>
              <a:srgbClr val="0f1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1"/>
          <p:cNvSpPr/>
          <p:nvPr/>
        </p:nvSpPr>
        <p:spPr>
          <a:xfrm>
            <a:off x="4864680" y="1170360"/>
            <a:ext cx="118440" cy="118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5065920" y="1170360"/>
            <a:ext cx="118440" cy="118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5266800" y="1170360"/>
            <a:ext cx="118440" cy="11844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4754880" y="11520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44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55f7a"/>
                </a:solidFill>
                <a:latin typeface="Consolas"/>
                <a:ea typeface="Consolas"/>
              </a:rPr>
              <a:t>приклад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4864680" y="1572840"/>
            <a:ext cx="382176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ee787"/>
                </a:solidFill>
                <a:latin typeface="Consolas"/>
                <a:ea typeface="Consolas"/>
              </a:rPr>
              <a:t>Тисячі ботів одночасно відкривають сайт → сервер перестає відповідати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4754880" y="43434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299" strike="noStrike">
                <a:solidFill>
                  <a:srgbClr val="8892a4"/>
                </a:solidFill>
                <a:latin typeface="Calibri"/>
                <a:ea typeface="Calibri"/>
              </a:rPr>
              <a:t>ЯК ЦЕ ПРАЦЮЄ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0" y="201168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0" y="301752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0" y="402336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0" y="502920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solidFill>
            <a:srgbClr val="ff9900">
              <a:alpha val="85000"/>
            </a:srgbClr>
          </a:solidFill>
          <a:ln w="1905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nsolas"/>
                <a:ea typeface="Consolas"/>
              </a:rPr>
              <a:t>XSS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2331720" y="255960"/>
            <a:ext cx="649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9900"/>
                </a:solidFill>
                <a:latin typeface="Calibri"/>
                <a:ea typeface="Calibri"/>
              </a:rPr>
              <a:t>Cross-Site Scripting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2331720" y="5943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2a4"/>
                </a:solidFill>
                <a:latin typeface="Calibri"/>
                <a:ea typeface="Calibri"/>
              </a:rPr>
              <a:t>Міжсайтове виконання сценаріїв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365760" y="109728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365760" y="1097280"/>
            <a:ext cx="54360" cy="1462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548640" y="1161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f9900"/>
                </a:solidFill>
                <a:latin typeface="Calibri"/>
                <a:ea typeface="Calibri"/>
              </a:rPr>
              <a:t>Опис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548640" y="1435680"/>
            <a:ext cx="3840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Зловмисник вставляє шкідливий JavaScript-код у вебсторінку. Цей код виконується у браузері інших користувачів без їхнього відома.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365760" y="274320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365760" y="2743200"/>
            <a:ext cx="54360" cy="1462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548640" y="28072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f9900"/>
                </a:solidFill>
                <a:latin typeface="Calibri"/>
                <a:ea typeface="Calibri"/>
              </a:rPr>
              <a:t>Мета атаки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548640" y="310896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Крадіжка cookies або сесій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Перенаправлення користувачів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Виконання дій від імені користувача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4754880" y="1097280"/>
            <a:ext cx="4023000" cy="31086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4754880" y="1097280"/>
            <a:ext cx="4023000" cy="383760"/>
          </a:xfrm>
          <a:prstGeom prst="rect">
            <a:avLst/>
          </a:prstGeom>
          <a:solidFill>
            <a:srgbClr val="0f1726"/>
          </a:solidFill>
          <a:ln w="12700">
            <a:solidFill>
              <a:srgbClr val="0f1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4864680" y="1170360"/>
            <a:ext cx="118440" cy="118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5065920" y="1170360"/>
            <a:ext cx="118440" cy="118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5266800" y="1170360"/>
            <a:ext cx="118440" cy="11844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4754880" y="11520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44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55f7a"/>
                </a:solidFill>
                <a:latin typeface="Consolas"/>
                <a:ea typeface="Consolas"/>
              </a:rPr>
              <a:t>приклад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5"/>
          <p:cNvSpPr/>
          <p:nvPr/>
        </p:nvSpPr>
        <p:spPr>
          <a:xfrm>
            <a:off x="4864680" y="1572840"/>
            <a:ext cx="382176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ee787"/>
                </a:solidFill>
                <a:latin typeface="Consolas"/>
                <a:ea typeface="Consolas"/>
              </a:rPr>
              <a:t>&lt;script&gt;alert("XSS")&lt;/script&gt;  ← вставляється у поле коментаря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4754880" y="43434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299" strike="noStrike">
                <a:solidFill>
                  <a:srgbClr val="8892a4"/>
                </a:solidFill>
                <a:latin typeface="Calibri"/>
                <a:ea typeface="Calibri"/>
              </a:rPr>
              <a:t>ЯК ЦЕ ПРАЦЮЄ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0" y="201168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0" y="301752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0" y="402336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0" y="502920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solidFill>
            <a:srgbClr val="a855f7">
              <a:alpha val="85000"/>
            </a:srgbClr>
          </a:solidFill>
          <a:ln w="1905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nsolas"/>
                <a:ea typeface="Consolas"/>
              </a:rPr>
              <a:t>CSRF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2331720" y="255960"/>
            <a:ext cx="649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a855f7"/>
                </a:solidFill>
                <a:latin typeface="Calibri"/>
                <a:ea typeface="Calibri"/>
              </a:rPr>
              <a:t>Cross-Site Request Forgery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2331720" y="5943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2a4"/>
                </a:solidFill>
                <a:latin typeface="Calibri"/>
                <a:ea typeface="Calibri"/>
              </a:rPr>
              <a:t>Підробка міжсайтових запитів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365760" y="109728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365760" y="1097280"/>
            <a:ext cx="54360" cy="1462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548640" y="1161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a855f7"/>
                </a:solidFill>
                <a:latin typeface="Calibri"/>
                <a:ea typeface="Calibri"/>
              </a:rPr>
              <a:t>Опис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548640" y="1435680"/>
            <a:ext cx="3840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Користувача змушують непомітно виконати небажану дію на сайті, де він авторизований. Браузер автоматично надсилає запит з його даними.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365760" y="274320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365760" y="2743200"/>
            <a:ext cx="54360" cy="1462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548640" y="28072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a855f7"/>
                </a:solidFill>
                <a:latin typeface="Calibri"/>
                <a:ea typeface="Calibri"/>
              </a:rPr>
              <a:t>Мета атаки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548640" y="310896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Зміна паролю або email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Переказ коштів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Виконання дій від імені жертви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4754880" y="1097280"/>
            <a:ext cx="4023000" cy="31086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20"/>
          <p:cNvSpPr/>
          <p:nvPr/>
        </p:nvSpPr>
        <p:spPr>
          <a:xfrm>
            <a:off x="4754880" y="1097280"/>
            <a:ext cx="4023000" cy="383760"/>
          </a:xfrm>
          <a:prstGeom prst="rect">
            <a:avLst/>
          </a:prstGeom>
          <a:solidFill>
            <a:srgbClr val="0f1726"/>
          </a:solidFill>
          <a:ln w="12700">
            <a:solidFill>
              <a:srgbClr val="0f1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21"/>
          <p:cNvSpPr/>
          <p:nvPr/>
        </p:nvSpPr>
        <p:spPr>
          <a:xfrm>
            <a:off x="4864680" y="1170360"/>
            <a:ext cx="118440" cy="118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5065920" y="1170360"/>
            <a:ext cx="118440" cy="118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5266800" y="1170360"/>
            <a:ext cx="118440" cy="11844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4754880" y="11520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44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55f7a"/>
                </a:solidFill>
                <a:latin typeface="Consolas"/>
                <a:ea typeface="Consolas"/>
              </a:rPr>
              <a:t>приклад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4864680" y="1572840"/>
            <a:ext cx="382176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ee787"/>
                </a:solidFill>
                <a:latin typeface="Consolas"/>
                <a:ea typeface="Consolas"/>
              </a:rPr>
              <a:t>Відкриває шкідливий сайт → браузер надсилає запит на зміну email в акаунті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6"/>
          <p:cNvSpPr/>
          <p:nvPr/>
        </p:nvSpPr>
        <p:spPr>
          <a:xfrm>
            <a:off x="4754880" y="43434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299" strike="noStrike">
                <a:solidFill>
                  <a:srgbClr val="8892a4"/>
                </a:solidFill>
                <a:latin typeface="Calibri"/>
                <a:ea typeface="Calibri"/>
              </a:rPr>
              <a:t>ЯК ЦЕ ПРАЦЮЄ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0" y="201168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0" y="301752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0" y="402336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0" y="5029200"/>
            <a:ext cx="9144000" cy="360"/>
          </a:xfrm>
          <a:prstGeom prst="line">
            <a:avLst/>
          </a:prstGeom>
          <a:ln w="6350">
            <a:solidFill>
              <a:srgbClr val="151e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solidFill>
            <a:srgbClr val="22d3ee">
              <a:alpha val="85000"/>
            </a:srgbClr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365760" y="22860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nsolas"/>
                <a:ea typeface="Consolas"/>
              </a:rPr>
              <a:t>SQLi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2331720" y="255960"/>
            <a:ext cx="649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libri"/>
                <a:ea typeface="Calibri"/>
              </a:rPr>
              <a:t>SQL Injection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2331720" y="5943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2a4"/>
                </a:solidFill>
                <a:latin typeface="Calibri"/>
                <a:ea typeface="Calibri"/>
              </a:rPr>
              <a:t>SQL-ін'єкція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365760" y="109728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365760" y="1097280"/>
            <a:ext cx="54360" cy="1462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548640" y="1161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22d3ee"/>
                </a:solidFill>
                <a:latin typeface="Calibri"/>
                <a:ea typeface="Calibri"/>
              </a:rPr>
              <a:t>Опис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548640" y="1435680"/>
            <a:ext cx="3840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Зловмисник вставляє SQL-код у поля вводу для зміни або отримання даних із бази даних. Сервер виконує цей код як частину запиту.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365760" y="2743200"/>
            <a:ext cx="4114440" cy="1462680"/>
          </a:xfrm>
          <a:prstGeom prst="rect">
            <a:avLst/>
          </a:prstGeom>
          <a:solidFill>
            <a:srgbClr val="141929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6"/>
          <p:cNvSpPr/>
          <p:nvPr/>
        </p:nvSpPr>
        <p:spPr>
          <a:xfrm>
            <a:off x="365760" y="2743200"/>
            <a:ext cx="54360" cy="1462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548640" y="28072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22d3ee"/>
                </a:solidFill>
                <a:latin typeface="Calibri"/>
                <a:ea typeface="Calibri"/>
              </a:rPr>
              <a:t>Мета атаки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548640" y="310896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Отримання конфіденційних даних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Обхід авторизації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dd5e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dd5e0"/>
                </a:solidFill>
                <a:latin typeface="Calibri"/>
                <a:ea typeface="Calibri"/>
              </a:rPr>
              <a:t>Видалення або зміна даних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9"/>
          <p:cNvSpPr/>
          <p:nvPr/>
        </p:nvSpPr>
        <p:spPr>
          <a:xfrm>
            <a:off x="4754880" y="1097280"/>
            <a:ext cx="4023000" cy="31086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0"/>
          <p:cNvSpPr/>
          <p:nvPr/>
        </p:nvSpPr>
        <p:spPr>
          <a:xfrm>
            <a:off x="4754880" y="1097280"/>
            <a:ext cx="4023000" cy="383760"/>
          </a:xfrm>
          <a:prstGeom prst="rect">
            <a:avLst/>
          </a:prstGeom>
          <a:solidFill>
            <a:srgbClr val="0f1726"/>
          </a:solidFill>
          <a:ln w="12700">
            <a:solidFill>
              <a:srgbClr val="0f1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1"/>
          <p:cNvSpPr/>
          <p:nvPr/>
        </p:nvSpPr>
        <p:spPr>
          <a:xfrm>
            <a:off x="4864680" y="1170360"/>
            <a:ext cx="118440" cy="118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2"/>
          <p:cNvSpPr/>
          <p:nvPr/>
        </p:nvSpPr>
        <p:spPr>
          <a:xfrm>
            <a:off x="5065920" y="1170360"/>
            <a:ext cx="118440" cy="118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3"/>
          <p:cNvSpPr/>
          <p:nvPr/>
        </p:nvSpPr>
        <p:spPr>
          <a:xfrm>
            <a:off x="5266800" y="1170360"/>
            <a:ext cx="118440" cy="11844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24"/>
          <p:cNvSpPr/>
          <p:nvPr/>
        </p:nvSpPr>
        <p:spPr>
          <a:xfrm>
            <a:off x="4754880" y="11520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44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55f7a"/>
                </a:solidFill>
                <a:latin typeface="Consolas"/>
                <a:ea typeface="Consolas"/>
              </a:rPr>
              <a:t>приклад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5"/>
          <p:cNvSpPr/>
          <p:nvPr/>
        </p:nvSpPr>
        <p:spPr>
          <a:xfrm>
            <a:off x="4864680" y="1572840"/>
            <a:ext cx="382176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ee787"/>
                </a:solidFill>
                <a:latin typeface="Consolas"/>
                <a:ea typeface="Consolas"/>
              </a:rPr>
              <a:t>' OR '1'='1  ← у полі логіна → вхід без пароля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6"/>
          <p:cNvSpPr/>
          <p:nvPr/>
        </p:nvSpPr>
        <p:spPr>
          <a:xfrm>
            <a:off x="4754880" y="43434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299" strike="noStrike">
                <a:solidFill>
                  <a:srgbClr val="8892a4"/>
                </a:solidFill>
                <a:latin typeface="Calibri"/>
                <a:ea typeface="Calibri"/>
              </a:rPr>
              <a:t>ЯК ЦЕ ПРАЦЮЄ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0" y="201168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0" y="301752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0" y="402336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0" y="5029200"/>
            <a:ext cx="9144000" cy="36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1143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2286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3429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4572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5715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6858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8001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9144000" y="0"/>
            <a:ext cx="360" cy="5143320"/>
          </a:xfrm>
          <a:prstGeom prst="line">
            <a:avLst/>
          </a:prstGeom>
          <a:ln w="6350">
            <a:solidFill>
              <a:srgbClr val="1e2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45720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599" strike="noStrike">
                <a:solidFill>
                  <a:srgbClr val="ffffff"/>
                </a:solidFill>
                <a:latin typeface="Arial Black"/>
                <a:ea typeface="Arial Black"/>
              </a:rPr>
              <a:t>ПІДСУМОК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892a4"/>
                </a:solidFill>
                <a:latin typeface="Calibri"/>
                <a:ea typeface="Calibri"/>
              </a:rPr>
              <a:t>Знай атаки — захищай системи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365760" y="1463040"/>
            <a:ext cx="3931560" cy="1325520"/>
          </a:xfrm>
          <a:prstGeom prst="rect">
            <a:avLst/>
          </a:prstGeom>
          <a:solidFill>
            <a:srgbClr val="141929"/>
          </a:solidFill>
          <a:ln w="1905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365760" y="1463040"/>
            <a:ext cx="63720" cy="1325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521280" y="15728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4d4d"/>
                </a:solidFill>
                <a:latin typeface="Consolas"/>
                <a:ea typeface="Consolas"/>
              </a:rPr>
              <a:t>DDoS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521280" y="196596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d5e0"/>
                </a:solidFill>
                <a:latin typeface="Calibri"/>
                <a:ea typeface="Calibri"/>
              </a:rPr>
              <a:t>Перевантаження сервера потоком запитів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21"/>
          <p:cNvSpPr/>
          <p:nvPr/>
        </p:nvSpPr>
        <p:spPr>
          <a:xfrm>
            <a:off x="4663440" y="1463040"/>
            <a:ext cx="3931560" cy="1325520"/>
          </a:xfrm>
          <a:prstGeom prst="rect">
            <a:avLst/>
          </a:prstGeom>
          <a:solidFill>
            <a:srgbClr val="141929"/>
          </a:solidFill>
          <a:ln w="1905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>
            <a:off x="4663440" y="1463040"/>
            <a:ext cx="63720" cy="1325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3"/>
          <p:cNvSpPr/>
          <p:nvPr/>
        </p:nvSpPr>
        <p:spPr>
          <a:xfrm>
            <a:off x="4818960" y="15728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9900"/>
                </a:solidFill>
                <a:latin typeface="Consolas"/>
                <a:ea typeface="Consolas"/>
              </a:rPr>
              <a:t>XSS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4"/>
          <p:cNvSpPr/>
          <p:nvPr/>
        </p:nvSpPr>
        <p:spPr>
          <a:xfrm>
            <a:off x="4818960" y="196596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d5e0"/>
                </a:solidFill>
                <a:latin typeface="Calibri"/>
                <a:ea typeface="Calibri"/>
              </a:rPr>
              <a:t>Впровадження шкідливого скрипта на сторінку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5"/>
          <p:cNvSpPr/>
          <p:nvPr/>
        </p:nvSpPr>
        <p:spPr>
          <a:xfrm>
            <a:off x="365760" y="3017520"/>
            <a:ext cx="3931560" cy="1325520"/>
          </a:xfrm>
          <a:prstGeom prst="rect">
            <a:avLst/>
          </a:prstGeom>
          <a:solidFill>
            <a:srgbClr val="141929"/>
          </a:solidFill>
          <a:ln w="1905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26"/>
          <p:cNvSpPr/>
          <p:nvPr/>
        </p:nvSpPr>
        <p:spPr>
          <a:xfrm>
            <a:off x="365760" y="3017520"/>
            <a:ext cx="63720" cy="1325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7"/>
          <p:cNvSpPr/>
          <p:nvPr/>
        </p:nvSpPr>
        <p:spPr>
          <a:xfrm>
            <a:off x="521280" y="31273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a855f7"/>
                </a:solidFill>
                <a:latin typeface="Consolas"/>
                <a:ea typeface="Consolas"/>
              </a:rPr>
              <a:t>CSRF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8"/>
          <p:cNvSpPr/>
          <p:nvPr/>
        </p:nvSpPr>
        <p:spPr>
          <a:xfrm>
            <a:off x="521280" y="352044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d5e0"/>
                </a:solidFill>
                <a:latin typeface="Calibri"/>
                <a:ea typeface="Calibri"/>
              </a:rPr>
              <a:t>Примусове виконання дій від імені користувача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29"/>
          <p:cNvSpPr/>
          <p:nvPr/>
        </p:nvSpPr>
        <p:spPr>
          <a:xfrm>
            <a:off x="4663440" y="3017520"/>
            <a:ext cx="3931560" cy="1325520"/>
          </a:xfrm>
          <a:prstGeom prst="rect">
            <a:avLst/>
          </a:prstGeom>
          <a:solidFill>
            <a:srgbClr val="141929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30"/>
          <p:cNvSpPr/>
          <p:nvPr/>
        </p:nvSpPr>
        <p:spPr>
          <a:xfrm>
            <a:off x="4663440" y="3017520"/>
            <a:ext cx="63720" cy="1325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31"/>
          <p:cNvSpPr/>
          <p:nvPr/>
        </p:nvSpPr>
        <p:spPr>
          <a:xfrm>
            <a:off x="4818960" y="31273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2d3ee"/>
                </a:solidFill>
                <a:latin typeface="Consolas"/>
                <a:ea typeface="Consolas"/>
              </a:rPr>
              <a:t>SQLi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2"/>
          <p:cNvSpPr/>
          <p:nvPr/>
        </p:nvSpPr>
        <p:spPr>
          <a:xfrm>
            <a:off x="4818960" y="352044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d5e0"/>
                </a:solidFill>
                <a:latin typeface="Calibri"/>
                <a:ea typeface="Calibri"/>
              </a:rPr>
              <a:t>Маніпуляція базою даних через поля вводу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3"/>
          <p:cNvSpPr/>
          <p:nvPr/>
        </p:nvSpPr>
        <p:spPr>
          <a:xfrm>
            <a:off x="457200" y="46177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8892a4"/>
                </a:solidFill>
                <a:latin typeface="Calibri"/>
                <a:ea typeface="Calibri"/>
              </a:rPr>
              <a:t>Розуміння загроз — перший крок до кіберзахисту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2026-05-12T13:55:55Z</dcterms:created>
  <dc:creator>PptxGenJS</dc:creator>
  <dc:description/>
  <dc:language>en-US</dc:language>
  <cp:lastModifiedBy/>
  <dcterms:modified xsi:type="dcterms:W3CDTF">2026-05-12T17:01:53Z</dcterms:modified>
  <cp:revision>2</cp:revision>
  <dc:subject>PptxGenJS Presentation</dc:subject>
  <dc:title>Кіберзагрози: Основні типи атак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